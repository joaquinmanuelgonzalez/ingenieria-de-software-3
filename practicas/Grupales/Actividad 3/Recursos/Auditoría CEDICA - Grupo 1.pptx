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Glacial Indifference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lacial Indifference" panose="020B0604020202020204" charset="0"/>
      <p:regular r:id="rId22"/>
    </p:embeddedFont>
    <p:embeddedFont>
      <p:font typeface="Glacial Indifference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56" y="6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5.svg"/><Relationship Id="rId4" Type="http://schemas.openxmlformats.org/officeDocument/2006/relationships/image" Target="../media/image8.png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0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2806">
            <a:off x="720300" y="6421716"/>
            <a:ext cx="8842272" cy="11861584"/>
          </a:xfrm>
          <a:custGeom>
            <a:avLst/>
            <a:gdLst/>
            <a:ahLst/>
            <a:cxnLst/>
            <a:rect l="l" t="t" r="r" b="b"/>
            <a:pathLst>
              <a:path w="8842272" h="11861584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6501204">
            <a:off x="11046831" y="-5088864"/>
            <a:ext cx="8807178" cy="11814508"/>
          </a:xfrm>
          <a:custGeom>
            <a:avLst/>
            <a:gdLst/>
            <a:ahLst/>
            <a:cxnLst/>
            <a:rect l="l" t="t" r="r" b="b"/>
            <a:pathLst>
              <a:path w="8807178" h="1181450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10571821">
            <a:off x="10628437" y="8363453"/>
            <a:ext cx="5947318" cy="7978109"/>
          </a:xfrm>
          <a:custGeom>
            <a:avLst/>
            <a:gdLst/>
            <a:ahLst/>
            <a:cxnLst/>
            <a:rect l="l" t="t" r="r" b="b"/>
            <a:pathLst>
              <a:path w="5947318" h="7978109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5114765">
            <a:off x="11561828" y="5146485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58328">
            <a:off x="13255544" y="-4131370"/>
            <a:ext cx="7156478" cy="6935278"/>
          </a:xfrm>
          <a:custGeom>
            <a:avLst/>
            <a:gdLst/>
            <a:ahLst/>
            <a:cxnLst/>
            <a:rect l="l" t="t" r="r" b="b"/>
            <a:pathLst>
              <a:path w="7156478" h="69352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3318101">
            <a:off x="-3880130" y="6803731"/>
            <a:ext cx="10117864" cy="10062676"/>
          </a:xfrm>
          <a:custGeom>
            <a:avLst/>
            <a:gdLst/>
            <a:ahLst/>
            <a:cxnLst/>
            <a:rect l="l" t="t" r="r" b="b"/>
            <a:pathLst>
              <a:path w="10117864" h="10062676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6800871">
            <a:off x="-1846725" y="-2878373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5023080" y="7037380"/>
            <a:ext cx="8005127" cy="59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Auditoría del sistema web de CEDICA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50116" y="3246779"/>
            <a:ext cx="12187768" cy="386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73"/>
              </a:lnSpc>
            </a:pPr>
            <a:r>
              <a:rPr lang="en-US" sz="11052" b="1" spc="103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 INFORMÁTICA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3405" y="2572421"/>
            <a:ext cx="12981190" cy="39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sz="2585" spc="-51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Grupo 1 - Alvarez, Ayrton. Bruschi, Tomás. Gonzalez, Iván. Gonzalez, Joaquín. Plaquin, Leandro.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8154" y="8786098"/>
            <a:ext cx="4977108" cy="88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3"/>
              </a:lnSpc>
              <a:spcBef>
                <a:spcPct val="0"/>
              </a:spcBef>
            </a:pPr>
            <a:r>
              <a:rPr lang="en-US" sz="2524" spc="5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Ingeniería de Software 3 - Actividad 3 - 02/05/2025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01204">
            <a:off x="-4899086" y="-8147683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8798399">
            <a:off x="11434890" y="2417332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0301337">
            <a:off x="9883234" y="-2150579"/>
            <a:ext cx="12901483" cy="11165647"/>
          </a:xfrm>
          <a:custGeom>
            <a:avLst/>
            <a:gdLst/>
            <a:ahLst/>
            <a:cxnLst/>
            <a:rect l="l" t="t" r="r" b="b"/>
            <a:pathLst>
              <a:path w="12901483" h="11165647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58160">
            <a:off x="-3775194" y="6616870"/>
            <a:ext cx="8481393" cy="7340260"/>
          </a:xfrm>
          <a:custGeom>
            <a:avLst/>
            <a:gdLst/>
            <a:ahLst/>
            <a:cxnLst/>
            <a:rect l="l" t="t" r="r" b="b"/>
            <a:pathLst>
              <a:path w="8481393" h="7340260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344704" y="1844442"/>
            <a:ext cx="1056580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spc="65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TEMARIO A TRATAR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4704" y="3356044"/>
            <a:ext cx="12294460" cy="5052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Contexto de la Organización y Sistema a Evaluar.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Riesgo de la Auditoría.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 de la Auditoría.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Muestreo Utilizado para la Evaluación de la Auditoría.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 de la Evaluación.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Opinión de Auditoría y Hallazgos.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mejora y recomendaciones.</a:t>
            </a:r>
          </a:p>
          <a:p>
            <a:pPr marL="770352" lvl="1" indent="-385176" algn="l">
              <a:lnSpc>
                <a:spcPts val="4995"/>
              </a:lnSpc>
              <a:buAutoNum type="arabicPeriod"/>
            </a:pPr>
            <a:r>
              <a:rPr lang="en-US" sz="3568" spc="7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 de la Auditoría.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40626" y="-76031"/>
            <a:ext cx="7136451" cy="10363031"/>
          </a:xfrm>
          <a:custGeom>
            <a:avLst/>
            <a:gdLst/>
            <a:ahLst/>
            <a:cxnLst/>
            <a:rect l="l" t="t" r="r" b="b"/>
            <a:pathLst>
              <a:path w="7136451" h="10363031">
                <a:moveTo>
                  <a:pt x="0" y="0"/>
                </a:moveTo>
                <a:lnTo>
                  <a:pt x="7136450" y="0"/>
                </a:lnTo>
                <a:lnTo>
                  <a:pt x="7136450" y="10363031"/>
                </a:lnTo>
                <a:lnTo>
                  <a:pt x="0" y="10363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80" b="-1680"/>
            </a:stretch>
          </a:blipFill>
        </p:spPr>
      </p:sp>
      <p:sp>
        <p:nvSpPr>
          <p:cNvPr id="3" name="Freeform 3"/>
          <p:cNvSpPr/>
          <p:nvPr/>
        </p:nvSpPr>
        <p:spPr>
          <a:xfrm rot="-445925">
            <a:off x="3376406" y="-165303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3283157">
            <a:off x="-1501206" y="7329841"/>
            <a:ext cx="5624862" cy="7545546"/>
          </a:xfrm>
          <a:custGeom>
            <a:avLst/>
            <a:gdLst/>
            <a:ahLst/>
            <a:cxnLst/>
            <a:rect l="l" t="t" r="r" b="b"/>
            <a:pathLst>
              <a:path w="5624862" h="7545546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2770156">
            <a:off x="-2720563" y="-1829460"/>
            <a:ext cx="4422137" cy="4285452"/>
          </a:xfrm>
          <a:custGeom>
            <a:avLst/>
            <a:gdLst/>
            <a:ahLst/>
            <a:cxnLst/>
            <a:rect l="l" t="t" r="r" b="b"/>
            <a:pathLst>
              <a:path w="4422137" h="4285452">
                <a:moveTo>
                  <a:pt x="0" y="0"/>
                </a:moveTo>
                <a:lnTo>
                  <a:pt x="4422136" y="0"/>
                </a:lnTo>
                <a:lnTo>
                  <a:pt x="4422136" y="4285452"/>
                </a:lnTo>
                <a:lnTo>
                  <a:pt x="0" y="428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2770156">
            <a:off x="15710816" y="8522875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028700" y="6570497"/>
            <a:ext cx="10671485" cy="207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</a:t>
            </a:r>
            <a:r>
              <a:rPr lang="en-US" sz="2994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sistema web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está compuesto por </a:t>
            </a:r>
            <a:r>
              <a:rPr lang="en-US" sz="2994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dos componentes principales:</a:t>
            </a:r>
          </a:p>
          <a:p>
            <a:pPr marL="646511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Aplicación web interna de administración.</a:t>
            </a:r>
          </a:p>
          <a:p>
            <a:pPr marL="646511" lvl="1" indent="-323256" algn="l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Portal web institucional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480862"/>
            <a:ext cx="9936484" cy="13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3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CONTEXTO DE LA ORGANIZACIÓN Y SISTEMA A EVALUAR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325534"/>
            <a:ext cx="993648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 Centro de Equitación para Personas con Discapacidad y Carenciadas, </a:t>
            </a:r>
            <a:r>
              <a:rPr lang="en-US" sz="3000" b="1" u="none" strike="noStrike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CEDICA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es una Asociación Civil sin </a:t>
            </a:r>
            <a:r>
              <a:rPr lang="en-US" sz="3000" b="1" u="none" strike="noStrike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Fines de Lucro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que trabaja con la finalidad de </a:t>
            </a:r>
            <a:r>
              <a:rPr lang="en-US" sz="3000" b="1" u="none" strike="noStrike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igualar oportunidades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mejorar la </a:t>
            </a:r>
            <a:r>
              <a:rPr lang="en-US" sz="3000" b="1" u="none" strike="noStrike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calidad de vida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los J&amp;A (Jinetes y Amazonas) de la Institución.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6947" y="4364203"/>
            <a:ext cx="5141050" cy="4238108"/>
            <a:chOff x="0" y="0"/>
            <a:chExt cx="812800" cy="670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75103" y="4364203"/>
            <a:ext cx="5141050" cy="4238108"/>
            <a:chOff x="0" y="0"/>
            <a:chExt cx="812800" cy="670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40003" y="4364203"/>
            <a:ext cx="5141050" cy="4238108"/>
            <a:chOff x="0" y="0"/>
            <a:chExt cx="812800" cy="6700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83283" y="942975"/>
            <a:ext cx="832469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RIESGO DE AUDITORÍA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110" y="5014837"/>
            <a:ext cx="438472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spc="32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 (Riesgo Inherente)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3248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14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063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1357" y="5984161"/>
            <a:ext cx="4852231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4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Establecimos el valor del RI en 0.3 porque el sistema maneja información sensible de beneficiarios y personal interno de la organización, pero no se considera de alta complejidad tecnológica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311213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6779369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12244269" y="575424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6321534" y="-285545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17304767" y="854768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0" y="9258300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-937766" y="8402769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 rot="672866">
            <a:off x="-1045588" y="-178351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10799999">
            <a:off x="12715117" y="758304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3284855" y="2241782"/>
            <a:ext cx="11721545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spc="7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Como primer paso, establecimos el valor del </a:t>
            </a:r>
            <a:r>
              <a:rPr lang="en-US" sz="3199" b="1" spc="7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RDA </a:t>
            </a:r>
            <a:r>
              <a:rPr lang="en-US" sz="3199" spc="7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(Riesgo de Auditoría) en 0.10, es decir, 10%.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79369" y="5014837"/>
            <a:ext cx="476288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spc="32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RC (Riesgo de Control)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30683" y="5014837"/>
            <a:ext cx="515037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spc="32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RD (Riesgo de Detección)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83227" y="8963025"/>
            <a:ext cx="1172154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 spc="7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Usamos el Estándar: RDA = RI * RC * 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34697" y="5906641"/>
            <a:ext cx="4852231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4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Establecimos el valor del RC en 0.6 porque existen controles básicos implementados, pero algunos procedimientos de validación o monitoreo no se encuentran completamente automatizados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84413" y="5984161"/>
            <a:ext cx="4852231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4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RD = RDA/(RI * RC) ≈ 0.56. Este valor indica que los procedimientos de auditoría deben ser lo suficientemente rigurosos como mantener la probabilidad de error por debajo del 56%.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54652" y="2878328"/>
            <a:ext cx="12763776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la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fue evaluar el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cumplimiento de estándares de calidad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 el desarrollo de la aplicación web de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CEDICA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Identificando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fortalezas y debilidades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 la implementación actual del sistema, y ofreciendo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recomendaciones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concretas para su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mejora continua.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4652" y="1749835"/>
            <a:ext cx="11852324" cy="76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b="1" spc="413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DE LA AUDITORÍA</a:t>
            </a:r>
          </a:p>
        </p:txBody>
      </p:sp>
      <p:sp>
        <p:nvSpPr>
          <p:cNvPr id="4" name="Freeform 4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659918">
            <a:off x="-535053" y="-324915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454652" y="6029236"/>
            <a:ext cx="1102316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evaluación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realizará en base al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análisis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las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métricas de Calidad que hemos definido.</a:t>
            </a:r>
          </a:p>
        </p:txBody>
      </p:sp>
      <p:sp>
        <p:nvSpPr>
          <p:cNvPr id="8" name="Freeform 8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-753121" y="9344884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454652" y="7579944"/>
            <a:ext cx="1025729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Dado el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riesgo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calculado, el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contexto del sistema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el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enfoque adoptado en el desarrollo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se decide realizar una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 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 un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nivel de rigor bajo.</a:t>
            </a:r>
          </a:p>
        </p:txBody>
      </p:sp>
      <p:sp>
        <p:nvSpPr>
          <p:cNvPr id="11" name="Freeform 11"/>
          <p:cNvSpPr/>
          <p:nvPr/>
        </p:nvSpPr>
        <p:spPr>
          <a:xfrm rot="-6597968">
            <a:off x="9945704" y="1442346"/>
            <a:ext cx="14100940" cy="12203723"/>
          </a:xfrm>
          <a:custGeom>
            <a:avLst/>
            <a:gdLst/>
            <a:ahLst/>
            <a:cxnLst/>
            <a:rect l="l" t="t" r="r" b="b"/>
            <a:pathLst>
              <a:path w="14100940" h="12203723">
                <a:moveTo>
                  <a:pt x="0" y="0"/>
                </a:moveTo>
                <a:lnTo>
                  <a:pt x="14100940" y="0"/>
                </a:lnTo>
                <a:lnTo>
                  <a:pt x="14100940" y="12203722"/>
                </a:lnTo>
                <a:lnTo>
                  <a:pt x="0" y="12203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14584">
            <a:off x="9392688" y="1381719"/>
            <a:ext cx="12901483" cy="11165647"/>
          </a:xfrm>
          <a:custGeom>
            <a:avLst/>
            <a:gdLst/>
            <a:ahLst/>
            <a:cxnLst/>
            <a:rect l="l" t="t" r="r" b="b"/>
            <a:pathLst>
              <a:path w="12901483" h="11165647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454652" y="3620988"/>
            <a:ext cx="9491431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decidió trabajar con una muestra compuesta por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 componentes funcionales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la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Aplicación web interna de administración: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</a:t>
            </a:r>
            <a:r>
              <a:rPr lang="en-US" sz="3000" i="1" spc="65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Módulo de Equipo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</a:t>
            </a:r>
            <a:r>
              <a:rPr lang="en-US" sz="3000" i="1" spc="65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Módulo de Jinetes y Amazonas (J&amp;A).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4652" y="1633794"/>
            <a:ext cx="11852324" cy="1545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b="1" spc="413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MUESTREO UTILIZADO PARA LA EVALUACIÓN DE LA AUDITORÍA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390242" y="2581522"/>
            <a:ext cx="6238131" cy="62381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659918">
            <a:off x="-535053" y="-324915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454652" y="6897867"/>
            <a:ext cx="949143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Ambos fueron seleccionados por su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nivel de criticidad funcional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por la </a:t>
            </a: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diversidad de funcionalidades que encapsulan.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151301">
            <a:off x="12666474" y="8242419"/>
            <a:ext cx="6873350" cy="6423458"/>
          </a:xfrm>
          <a:custGeom>
            <a:avLst/>
            <a:gdLst/>
            <a:ahLst/>
            <a:cxnLst/>
            <a:rect l="l" t="t" r="r" b="b"/>
            <a:pathLst>
              <a:path w="6873350" h="6423458">
                <a:moveTo>
                  <a:pt x="0" y="0"/>
                </a:moveTo>
                <a:lnTo>
                  <a:pt x="6873350" y="0"/>
                </a:lnTo>
                <a:lnTo>
                  <a:pt x="6873350" y="6423458"/>
                </a:lnTo>
                <a:lnTo>
                  <a:pt x="0" y="64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37524" y="6164300"/>
            <a:ext cx="595638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 b="1" spc="61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RESULTADOS</a:t>
            </a:r>
          </a:p>
          <a:p>
            <a:pPr algn="ctr">
              <a:lnSpc>
                <a:spcPts val="9100"/>
              </a:lnSpc>
            </a:pPr>
            <a:r>
              <a:rPr lang="en-US" sz="6500" b="1" spc="61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</a:t>
            </a:r>
          </a:p>
        </p:txBody>
      </p:sp>
      <p:sp>
        <p:nvSpPr>
          <p:cNvPr id="5" name="Freeform 5"/>
          <p:cNvSpPr/>
          <p:nvPr/>
        </p:nvSpPr>
        <p:spPr>
          <a:xfrm>
            <a:off x="-1446812" y="784176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10452176">
            <a:off x="15478210" y="-2783258"/>
            <a:ext cx="4993825" cy="4449044"/>
          </a:xfrm>
          <a:custGeom>
            <a:avLst/>
            <a:gdLst/>
            <a:ahLst/>
            <a:cxnLst/>
            <a:rect l="l" t="t" r="r" b="b"/>
            <a:pathLst>
              <a:path w="4993825" h="4449044">
                <a:moveTo>
                  <a:pt x="0" y="0"/>
                </a:moveTo>
                <a:lnTo>
                  <a:pt x="4993825" y="0"/>
                </a:lnTo>
                <a:lnTo>
                  <a:pt x="4993825" y="4449044"/>
                </a:lnTo>
                <a:lnTo>
                  <a:pt x="0" y="4449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6734328" y="5803585"/>
            <a:ext cx="4819344" cy="3625708"/>
            <a:chOff x="0" y="0"/>
            <a:chExt cx="1269292" cy="9549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9292" cy="954919"/>
            </a:xfrm>
            <a:custGeom>
              <a:avLst/>
              <a:gdLst/>
              <a:ahLst/>
              <a:cxnLst/>
              <a:rect l="l" t="t" r="r" b="b"/>
              <a:pathLst>
                <a:path w="1269292" h="954919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872991"/>
                  </a:lnTo>
                  <a:cubicBezTo>
                    <a:pt x="1269292" y="894720"/>
                    <a:pt x="1260661" y="915558"/>
                    <a:pt x="1245296" y="930923"/>
                  </a:cubicBezTo>
                  <a:cubicBezTo>
                    <a:pt x="1229932" y="946287"/>
                    <a:pt x="1209093" y="954919"/>
                    <a:pt x="1187365" y="954919"/>
                  </a:cubicBezTo>
                  <a:lnTo>
                    <a:pt x="81928" y="954919"/>
                  </a:lnTo>
                  <a:cubicBezTo>
                    <a:pt x="60199" y="954919"/>
                    <a:pt x="39361" y="946287"/>
                    <a:pt x="23996" y="930923"/>
                  </a:cubicBezTo>
                  <a:cubicBezTo>
                    <a:pt x="8632" y="915558"/>
                    <a:pt x="0" y="894720"/>
                    <a:pt x="0" y="872991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269292" cy="945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59401" y="5803585"/>
            <a:ext cx="4819344" cy="3625708"/>
            <a:chOff x="0" y="0"/>
            <a:chExt cx="1269292" cy="9549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9292" cy="954919"/>
            </a:xfrm>
            <a:custGeom>
              <a:avLst/>
              <a:gdLst/>
              <a:ahLst/>
              <a:cxnLst/>
              <a:rect l="l" t="t" r="r" b="b"/>
              <a:pathLst>
                <a:path w="1269292" h="954919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872991"/>
                  </a:lnTo>
                  <a:cubicBezTo>
                    <a:pt x="1269292" y="894720"/>
                    <a:pt x="1260661" y="915558"/>
                    <a:pt x="1245296" y="930923"/>
                  </a:cubicBezTo>
                  <a:cubicBezTo>
                    <a:pt x="1229932" y="946287"/>
                    <a:pt x="1209093" y="954919"/>
                    <a:pt x="1187365" y="954919"/>
                  </a:cubicBezTo>
                  <a:lnTo>
                    <a:pt x="81928" y="954919"/>
                  </a:lnTo>
                  <a:cubicBezTo>
                    <a:pt x="60199" y="954919"/>
                    <a:pt x="39361" y="946287"/>
                    <a:pt x="23996" y="930923"/>
                  </a:cubicBezTo>
                  <a:cubicBezTo>
                    <a:pt x="8632" y="915558"/>
                    <a:pt x="0" y="894720"/>
                    <a:pt x="0" y="872991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269292" cy="945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39160" y="834725"/>
            <a:ext cx="4819344" cy="3925481"/>
            <a:chOff x="0" y="0"/>
            <a:chExt cx="1269292" cy="10338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9292" cy="1033871"/>
            </a:xfrm>
            <a:custGeom>
              <a:avLst/>
              <a:gdLst/>
              <a:ahLst/>
              <a:cxnLst/>
              <a:rect l="l" t="t" r="r" b="b"/>
              <a:pathLst>
                <a:path w="1269292" h="1033871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951944"/>
                  </a:lnTo>
                  <a:cubicBezTo>
                    <a:pt x="1269292" y="997191"/>
                    <a:pt x="1232612" y="1033871"/>
                    <a:pt x="1187365" y="1033871"/>
                  </a:cubicBezTo>
                  <a:lnTo>
                    <a:pt x="81928" y="1033871"/>
                  </a:lnTo>
                  <a:cubicBezTo>
                    <a:pt x="60199" y="1033871"/>
                    <a:pt x="39361" y="1025240"/>
                    <a:pt x="23996" y="1009875"/>
                  </a:cubicBezTo>
                  <a:cubicBezTo>
                    <a:pt x="8632" y="994511"/>
                    <a:pt x="0" y="973672"/>
                    <a:pt x="0" y="951944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69292" cy="1024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09292" y="872825"/>
            <a:ext cx="4819344" cy="3915956"/>
            <a:chOff x="0" y="0"/>
            <a:chExt cx="1269292" cy="1031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9292" cy="1031363"/>
            </a:xfrm>
            <a:custGeom>
              <a:avLst/>
              <a:gdLst/>
              <a:ahLst/>
              <a:cxnLst/>
              <a:rect l="l" t="t" r="r" b="b"/>
              <a:pathLst>
                <a:path w="1269292" h="1031363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949435"/>
                  </a:lnTo>
                  <a:cubicBezTo>
                    <a:pt x="1269292" y="971164"/>
                    <a:pt x="1260661" y="992002"/>
                    <a:pt x="1245296" y="1007367"/>
                  </a:cubicBezTo>
                  <a:cubicBezTo>
                    <a:pt x="1229932" y="1022731"/>
                    <a:pt x="1209093" y="1031363"/>
                    <a:pt x="1187365" y="1031363"/>
                  </a:cubicBezTo>
                  <a:lnTo>
                    <a:pt x="81928" y="1031363"/>
                  </a:lnTo>
                  <a:cubicBezTo>
                    <a:pt x="60199" y="1031363"/>
                    <a:pt x="39361" y="1022731"/>
                    <a:pt x="23996" y="1007367"/>
                  </a:cubicBezTo>
                  <a:cubicBezTo>
                    <a:pt x="8632" y="992002"/>
                    <a:pt x="0" y="971164"/>
                    <a:pt x="0" y="949435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269292" cy="1021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6734328" y="6712700"/>
            <a:ext cx="4698137" cy="2882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2659516" y="6789588"/>
            <a:ext cx="4819344" cy="2900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639046" y="2140799"/>
            <a:ext cx="4819344" cy="2900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734443" y="2126295"/>
            <a:ext cx="4819344" cy="2900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6293909" y="1480804"/>
            <a:ext cx="5850110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Modularidad del Código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44019" y="1480804"/>
            <a:ext cx="5850110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Documentación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18945" y="6261215"/>
            <a:ext cx="5850110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Gestión de Logs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44019" y="6261215"/>
            <a:ext cx="5850110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  <a:spcBef>
                <a:spcPct val="0"/>
              </a:spcBef>
            </a:pPr>
            <a:r>
              <a:rPr lang="en-US" sz="32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Manejo de Excepciones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11529" y="2498193"/>
            <a:ext cx="4420935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“Mínimamente aceptable”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58606" y="2415479"/>
            <a:ext cx="4420935" cy="210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“Excede los requerimientos”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33532" y="7255879"/>
            <a:ext cx="4420935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“Insatisfactorio”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58606" y="7358100"/>
            <a:ext cx="4420935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“Aceptable”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26560" y="96504"/>
            <a:ext cx="168502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01487" y="96504"/>
            <a:ext cx="168502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9484" y="5077640"/>
            <a:ext cx="168502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33728" y="5067415"/>
            <a:ext cx="18706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151301">
            <a:off x="12903101" y="8509577"/>
            <a:ext cx="6611441" cy="6178692"/>
          </a:xfrm>
          <a:custGeom>
            <a:avLst/>
            <a:gdLst/>
            <a:ahLst/>
            <a:cxnLst/>
            <a:rect l="l" t="t" r="r" b="b"/>
            <a:pathLst>
              <a:path w="6611441" h="6178692">
                <a:moveTo>
                  <a:pt x="0" y="0"/>
                </a:moveTo>
                <a:lnTo>
                  <a:pt x="6611442" y="0"/>
                </a:lnTo>
                <a:lnTo>
                  <a:pt x="6611442" y="6178692"/>
                </a:lnTo>
                <a:lnTo>
                  <a:pt x="0" y="6178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446812" y="7841762"/>
            <a:ext cx="5482705" cy="4884592"/>
          </a:xfrm>
          <a:custGeom>
            <a:avLst/>
            <a:gdLst/>
            <a:ahLst/>
            <a:cxnLst/>
            <a:rect l="l" t="t" r="r" b="b"/>
            <a:pathLst>
              <a:path w="5482705" h="4884592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10452176">
            <a:off x="15524570" y="-2785606"/>
            <a:ext cx="4945151" cy="4405680"/>
          </a:xfrm>
          <a:custGeom>
            <a:avLst/>
            <a:gdLst/>
            <a:ahLst/>
            <a:cxnLst/>
            <a:rect l="l" t="t" r="r" b="b"/>
            <a:pathLst>
              <a:path w="4945151" h="4405680">
                <a:moveTo>
                  <a:pt x="0" y="0"/>
                </a:moveTo>
                <a:lnTo>
                  <a:pt x="4945151" y="0"/>
                </a:lnTo>
                <a:lnTo>
                  <a:pt x="4945151" y="4405680"/>
                </a:lnTo>
                <a:lnTo>
                  <a:pt x="0" y="4405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6734443" y="5398789"/>
            <a:ext cx="4819344" cy="4192960"/>
            <a:chOff x="0" y="0"/>
            <a:chExt cx="1269292" cy="11043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9292" cy="1104319"/>
            </a:xfrm>
            <a:custGeom>
              <a:avLst/>
              <a:gdLst/>
              <a:ahLst/>
              <a:cxnLst/>
              <a:rect l="l" t="t" r="r" b="b"/>
              <a:pathLst>
                <a:path w="1269292" h="1104319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1022391"/>
                  </a:lnTo>
                  <a:cubicBezTo>
                    <a:pt x="1269292" y="1044120"/>
                    <a:pt x="1260661" y="1064958"/>
                    <a:pt x="1245296" y="1080323"/>
                  </a:cubicBezTo>
                  <a:cubicBezTo>
                    <a:pt x="1229932" y="1095687"/>
                    <a:pt x="1209093" y="1104319"/>
                    <a:pt x="1187365" y="1104319"/>
                  </a:cubicBezTo>
                  <a:lnTo>
                    <a:pt x="81928" y="1104319"/>
                  </a:lnTo>
                  <a:cubicBezTo>
                    <a:pt x="60199" y="1104319"/>
                    <a:pt x="39361" y="1095687"/>
                    <a:pt x="23996" y="1080323"/>
                  </a:cubicBezTo>
                  <a:cubicBezTo>
                    <a:pt x="8632" y="1064958"/>
                    <a:pt x="0" y="1044120"/>
                    <a:pt x="0" y="1022391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269292" cy="1094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659401" y="5398789"/>
            <a:ext cx="4819344" cy="4192960"/>
            <a:chOff x="0" y="0"/>
            <a:chExt cx="1269292" cy="11043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9292" cy="1104319"/>
            </a:xfrm>
            <a:custGeom>
              <a:avLst/>
              <a:gdLst/>
              <a:ahLst/>
              <a:cxnLst/>
              <a:rect l="l" t="t" r="r" b="b"/>
              <a:pathLst>
                <a:path w="1269292" h="1104319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1022391"/>
                  </a:lnTo>
                  <a:cubicBezTo>
                    <a:pt x="1269292" y="1044120"/>
                    <a:pt x="1260661" y="1064958"/>
                    <a:pt x="1245296" y="1080323"/>
                  </a:cubicBezTo>
                  <a:cubicBezTo>
                    <a:pt x="1229932" y="1095687"/>
                    <a:pt x="1209093" y="1104319"/>
                    <a:pt x="1187365" y="1104319"/>
                  </a:cubicBezTo>
                  <a:lnTo>
                    <a:pt x="81928" y="1104319"/>
                  </a:lnTo>
                  <a:cubicBezTo>
                    <a:pt x="60199" y="1104319"/>
                    <a:pt x="39361" y="1095687"/>
                    <a:pt x="23996" y="1080323"/>
                  </a:cubicBezTo>
                  <a:cubicBezTo>
                    <a:pt x="8632" y="1064958"/>
                    <a:pt x="0" y="1044120"/>
                    <a:pt x="0" y="1022391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269292" cy="1094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59401" y="688226"/>
            <a:ext cx="4819344" cy="3775214"/>
            <a:chOff x="0" y="0"/>
            <a:chExt cx="1269292" cy="9942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9292" cy="994295"/>
            </a:xfrm>
            <a:custGeom>
              <a:avLst/>
              <a:gdLst/>
              <a:ahLst/>
              <a:cxnLst/>
              <a:rect l="l" t="t" r="r" b="b"/>
              <a:pathLst>
                <a:path w="1269292" h="994295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912367"/>
                  </a:lnTo>
                  <a:cubicBezTo>
                    <a:pt x="1269292" y="934096"/>
                    <a:pt x="1260661" y="954935"/>
                    <a:pt x="1245296" y="970299"/>
                  </a:cubicBezTo>
                  <a:cubicBezTo>
                    <a:pt x="1229932" y="985663"/>
                    <a:pt x="1209093" y="994295"/>
                    <a:pt x="1187365" y="994295"/>
                  </a:cubicBezTo>
                  <a:lnTo>
                    <a:pt x="81928" y="994295"/>
                  </a:lnTo>
                  <a:cubicBezTo>
                    <a:pt x="60199" y="994295"/>
                    <a:pt x="39361" y="985663"/>
                    <a:pt x="23996" y="970299"/>
                  </a:cubicBezTo>
                  <a:cubicBezTo>
                    <a:pt x="8632" y="954935"/>
                    <a:pt x="0" y="934096"/>
                    <a:pt x="0" y="912367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69292" cy="984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34328" y="688226"/>
            <a:ext cx="4819344" cy="3775214"/>
            <a:chOff x="0" y="0"/>
            <a:chExt cx="1269292" cy="9942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9292" cy="994295"/>
            </a:xfrm>
            <a:custGeom>
              <a:avLst/>
              <a:gdLst/>
              <a:ahLst/>
              <a:cxnLst/>
              <a:rect l="l" t="t" r="r" b="b"/>
              <a:pathLst>
                <a:path w="1269292" h="994295">
                  <a:moveTo>
                    <a:pt x="81928" y="0"/>
                  </a:moveTo>
                  <a:lnTo>
                    <a:pt x="1187365" y="0"/>
                  </a:lnTo>
                  <a:cubicBezTo>
                    <a:pt x="1232612" y="0"/>
                    <a:pt x="1269292" y="36680"/>
                    <a:pt x="1269292" y="81928"/>
                  </a:cubicBezTo>
                  <a:lnTo>
                    <a:pt x="1269292" y="912367"/>
                  </a:lnTo>
                  <a:cubicBezTo>
                    <a:pt x="1269292" y="934096"/>
                    <a:pt x="1260661" y="954935"/>
                    <a:pt x="1245296" y="970299"/>
                  </a:cubicBezTo>
                  <a:cubicBezTo>
                    <a:pt x="1229932" y="985663"/>
                    <a:pt x="1209093" y="994295"/>
                    <a:pt x="1187365" y="994295"/>
                  </a:cubicBezTo>
                  <a:lnTo>
                    <a:pt x="81928" y="994295"/>
                  </a:lnTo>
                  <a:cubicBezTo>
                    <a:pt x="60199" y="994295"/>
                    <a:pt x="39361" y="985663"/>
                    <a:pt x="23996" y="970299"/>
                  </a:cubicBezTo>
                  <a:cubicBezTo>
                    <a:pt x="8632" y="954935"/>
                    <a:pt x="0" y="934096"/>
                    <a:pt x="0" y="912367"/>
                  </a:cubicBezTo>
                  <a:lnTo>
                    <a:pt x="0" y="81928"/>
                  </a:lnTo>
                  <a:cubicBezTo>
                    <a:pt x="0" y="60199"/>
                    <a:pt x="8632" y="39361"/>
                    <a:pt x="23996" y="23996"/>
                  </a:cubicBezTo>
                  <a:cubicBezTo>
                    <a:pt x="39361" y="8632"/>
                    <a:pt x="60199" y="0"/>
                    <a:pt x="81928" y="0"/>
                  </a:cubicBezTo>
                  <a:close/>
                </a:path>
              </a:pathLst>
            </a:custGeom>
            <a:solidFill>
              <a:srgbClr val="E3D8D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1269292" cy="984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6734443" y="6766121"/>
            <a:ext cx="4819229" cy="23467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2659516" y="6789588"/>
            <a:ext cx="4819344" cy="2900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12613128" y="1935620"/>
            <a:ext cx="4865847" cy="19050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6734443" y="1858552"/>
            <a:ext cx="4819344" cy="29009"/>
          </a:xfrm>
          <a:prstGeom prst="line">
            <a:avLst/>
          </a:prstGeom>
          <a:ln w="38100" cap="flat">
            <a:solidFill>
              <a:srgbClr val="1525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6321168" y="1293286"/>
            <a:ext cx="5850110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Pruebas Automatizadas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01743" y="959392"/>
            <a:ext cx="4939337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Desacoplamiento entre Componentes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36322" y="5859803"/>
            <a:ext cx="4717350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Estandarización del Código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88153" y="5776536"/>
            <a:ext cx="4840327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000" b="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Control de Versiones y Trazabilidad de Cambios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36436" y="2336397"/>
            <a:ext cx="4615127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“Insatifactorio”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63848" y="2349119"/>
            <a:ext cx="4615127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“Aceptado”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42250" y="7358100"/>
            <a:ext cx="4403499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“mínimamente aceptable”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63848" y="7358100"/>
            <a:ext cx="4671418" cy="168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acuerdo con la escala establecida, este resultado se encuentra en el nivel </a:t>
            </a:r>
            <a:r>
              <a:rPr lang="en-US" sz="27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“Aceptado”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7687" y="6164300"/>
            <a:ext cx="595638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 b="1" spc="61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RESULTADOS</a:t>
            </a:r>
          </a:p>
          <a:p>
            <a:pPr algn="ctr">
              <a:lnSpc>
                <a:spcPts val="9100"/>
              </a:lnSpc>
            </a:pPr>
            <a:r>
              <a:rPr lang="en-US" sz="6500" b="1" spc="611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8654" y="-39230"/>
            <a:ext cx="18706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72970" y="-39230"/>
            <a:ext cx="18706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10877" y="4666003"/>
            <a:ext cx="18706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64211" y="4666003"/>
            <a:ext cx="18706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657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08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1260708"/>
            <a:ext cx="9817265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- I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437152" y="2686811"/>
            <a:ext cx="11413697" cy="11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Dentro de todos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encontrados a lo largo de la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tomamos algunos como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más relevantes: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37152" y="4476928"/>
            <a:ext cx="11413697" cy="478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33.78%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los módulos están altamente modularizados, mientras que un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16.22%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los módulos no respetan criterios adecuados de modularización.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documentación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tiene una cobertura completa de las funcionalidades, aunque faltan diagramas.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se implementa ningún mecanismo de logging.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se utilizan bloques try/except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 partes críticas del código.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1260708"/>
            <a:ext cx="9817265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- II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437152" y="4476928"/>
            <a:ext cx="11413697" cy="478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existe una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política estandarizada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el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registro de errores en logs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se detectaron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caídas del sistema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ante errores simulados.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u="none" strike="noStrike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existen</a:t>
            </a:r>
            <a:r>
              <a:rPr lang="en-US" sz="3382" b="1" u="none" strike="noStrike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pruebas unitarias</a:t>
            </a:r>
            <a:r>
              <a:rPr lang="en-US" sz="3382" u="none" strike="noStrike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modelos y algunos controladores.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u="none" strike="noStrike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se encontraron</a:t>
            </a:r>
            <a:r>
              <a:rPr lang="en-US" sz="3382" b="1" u="none" strike="noStrike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pruebas funcionales automatizadas</a:t>
            </a:r>
            <a:r>
              <a:rPr lang="en-US" sz="3382" u="none" strike="noStrike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37152" y="2686811"/>
            <a:ext cx="11413697" cy="11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Dentro de todos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encontrados a lo largo de la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tomamos algunos como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más relevantes: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1260708"/>
            <a:ext cx="9817265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- III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437152" y="4476928"/>
            <a:ext cx="11413697" cy="478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sistema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cuenta con un pipeline CI/CD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configurado para ejecutar pruebas automáticamente.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se generan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reportes automáticos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resultados de pruebas.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hallaron más de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300 líneas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 no respetan la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PEP 8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Python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Algunos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commits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encontrados no fueron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descriptivos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utilizaban nombres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informales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37152" y="2686811"/>
            <a:ext cx="11413697" cy="11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Dentro de todos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encontrados a lo largo de la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Auditoría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tomamos algunos como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más relevantes: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97769" y="1260708"/>
            <a:ext cx="10092462" cy="125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u="none" strike="noStrike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MEJORA - I 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354559">
            <a:off x="12835614" y="6376569"/>
            <a:ext cx="7546704" cy="7052738"/>
          </a:xfrm>
          <a:custGeom>
            <a:avLst/>
            <a:gdLst/>
            <a:ahLst/>
            <a:cxnLst/>
            <a:rect l="l" t="t" r="r" b="b"/>
            <a:pathLst>
              <a:path w="7546704" h="7052738">
                <a:moveTo>
                  <a:pt x="0" y="0"/>
                </a:moveTo>
                <a:lnTo>
                  <a:pt x="7546704" y="0"/>
                </a:lnTo>
                <a:lnTo>
                  <a:pt x="7546704" y="7052738"/>
                </a:lnTo>
                <a:lnTo>
                  <a:pt x="0" y="705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521968">
            <a:off x="-1573165" y="6997094"/>
            <a:ext cx="5740395" cy="5364660"/>
          </a:xfrm>
          <a:custGeom>
            <a:avLst/>
            <a:gdLst/>
            <a:ahLst/>
            <a:cxnLst/>
            <a:rect l="l" t="t" r="r" b="b"/>
            <a:pathLst>
              <a:path w="5740395" h="5364660">
                <a:moveTo>
                  <a:pt x="0" y="0"/>
                </a:moveTo>
                <a:lnTo>
                  <a:pt x="5740395" y="0"/>
                </a:lnTo>
                <a:lnTo>
                  <a:pt x="5740395" y="5364660"/>
                </a:lnTo>
                <a:lnTo>
                  <a:pt x="0" y="536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667128" y="4451328"/>
            <a:ext cx="12953744" cy="447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spc="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Establecer políticas de revisión de código: </a:t>
            </a: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Incorporar revisiones que verifiquen el nivel de modularización antes de publicar nuevas funcionalidades.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spc="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Incorporar una librería de logging </a:t>
            </a: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adecuada al stack tecnológico del sistema, en este caso podría ser “logging” de Python.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u="none" strike="noStrike" spc="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Configurar almacenamiento con rotación de archivos</a:t>
            </a:r>
            <a:r>
              <a:rPr lang="en-US" sz="3200" u="none" strike="noStrike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 exportación hacia un sistema de recolección.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2238" y="2719781"/>
            <a:ext cx="12202773" cy="11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Dentro del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Plan de Mejora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especificado, tomamos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puntos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 consideramos deben ser tratados a un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Corto Plazo: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85188" y="1260708"/>
            <a:ext cx="10317623" cy="125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u="none" strike="noStrike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MEJORA - II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9354559">
            <a:off x="12959882" y="6554753"/>
            <a:ext cx="7384415" cy="6901071"/>
          </a:xfrm>
          <a:custGeom>
            <a:avLst/>
            <a:gdLst/>
            <a:ahLst/>
            <a:cxnLst/>
            <a:rect l="l" t="t" r="r" b="b"/>
            <a:pathLst>
              <a:path w="7384415" h="6901071">
                <a:moveTo>
                  <a:pt x="0" y="0"/>
                </a:moveTo>
                <a:lnTo>
                  <a:pt x="7384415" y="0"/>
                </a:lnTo>
                <a:lnTo>
                  <a:pt x="7384415" y="6901071"/>
                </a:lnTo>
                <a:lnTo>
                  <a:pt x="0" y="6901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521968">
            <a:off x="-1573165" y="6997094"/>
            <a:ext cx="5740395" cy="5364660"/>
          </a:xfrm>
          <a:custGeom>
            <a:avLst/>
            <a:gdLst/>
            <a:ahLst/>
            <a:cxnLst/>
            <a:rect l="l" t="t" r="r" b="b"/>
            <a:pathLst>
              <a:path w="5740395" h="5364660">
                <a:moveTo>
                  <a:pt x="0" y="0"/>
                </a:moveTo>
                <a:lnTo>
                  <a:pt x="5740395" y="0"/>
                </a:lnTo>
                <a:lnTo>
                  <a:pt x="5740395" y="5364660"/>
                </a:lnTo>
                <a:lnTo>
                  <a:pt x="0" y="536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050435" y="4424464"/>
            <a:ext cx="12187130" cy="559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spc="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ausencia total de pruebas automatizadas requiere implementar un plan integral:</a:t>
            </a:r>
          </a:p>
          <a:p>
            <a:pPr marL="1381761" lvl="2" indent="-460587" algn="l">
              <a:lnSpc>
                <a:spcPts val="4480"/>
              </a:lnSpc>
              <a:buFont typeface="Arial"/>
              <a:buChar char="⚬"/>
            </a:pPr>
            <a:r>
              <a:rPr lang="en-US" sz="3200" i="1" spc="70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Seleccionar un “framework” de pruebas.</a:t>
            </a:r>
          </a:p>
          <a:p>
            <a:pPr marL="1381761" lvl="2" indent="-460587" algn="l">
              <a:lnSpc>
                <a:spcPts val="4480"/>
              </a:lnSpc>
              <a:buFont typeface="Arial"/>
              <a:buChar char="⚬"/>
            </a:pP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Priorizar el desarrollo de </a:t>
            </a:r>
            <a:r>
              <a:rPr lang="en-US" sz="3200" i="1" spc="70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pruebas unitarias</a:t>
            </a: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la lógica de negocio crítica,</a:t>
            </a:r>
          </a:p>
          <a:p>
            <a:pPr marL="1381761" lvl="2" indent="-460587" algn="l">
              <a:lnSpc>
                <a:spcPts val="4480"/>
              </a:lnSpc>
              <a:buFont typeface="Arial"/>
              <a:buChar char="⚬"/>
            </a:pP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 </a:t>
            </a:r>
            <a:r>
              <a:rPr lang="en-US" sz="3200" i="1" spc="70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pruebas de integración</a:t>
            </a: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la interacción entre componentes,</a:t>
            </a:r>
          </a:p>
          <a:p>
            <a:pPr marL="1381761" lvl="2" indent="-460587" algn="l">
              <a:lnSpc>
                <a:spcPts val="4480"/>
              </a:lnSpc>
              <a:buFont typeface="Arial"/>
              <a:buChar char="⚬"/>
            </a:pP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Considerar </a:t>
            </a:r>
            <a:r>
              <a:rPr lang="en-US" sz="3200" i="1" spc="70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pruebas funcionales</a:t>
            </a: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flujos clave.</a:t>
            </a:r>
          </a:p>
          <a:p>
            <a:pPr marL="1381761" lvl="2" indent="-460587" algn="l">
              <a:lnSpc>
                <a:spcPts val="4480"/>
              </a:lnSpc>
              <a:buFont typeface="Arial"/>
              <a:buChar char="⚬"/>
            </a:pPr>
            <a:r>
              <a:rPr lang="en-US" sz="3200" spc="7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Integrar la ejecución automática de estas pruebas en un </a:t>
            </a:r>
            <a:r>
              <a:rPr lang="en-US" sz="3200" i="1" spc="70">
                <a:solidFill>
                  <a:srgbClr val="15254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sistema de Integración Continua (CI).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2238" y="2719781"/>
            <a:ext cx="12202773" cy="118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Dentro del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Plan de Mejora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especificado, tomamos los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puntos </a:t>
            </a: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 consideramos deben ser tratados a un </a:t>
            </a:r>
            <a:r>
              <a:rPr lang="en-US" sz="3382" b="1" spc="7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Corto Plazo: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392222" y="7175621"/>
            <a:ext cx="7503556" cy="10065746"/>
          </a:xfrm>
          <a:custGeom>
            <a:avLst/>
            <a:gdLst/>
            <a:ahLst/>
            <a:cxnLst/>
            <a:rect l="l" t="t" r="r" b="b"/>
            <a:pathLst>
              <a:path w="7503556" h="10065746">
                <a:moveTo>
                  <a:pt x="0" y="0"/>
                </a:moveTo>
                <a:lnTo>
                  <a:pt x="7503556" y="0"/>
                </a:lnTo>
                <a:lnTo>
                  <a:pt x="7503556" y="10065746"/>
                </a:lnTo>
                <a:lnTo>
                  <a:pt x="0" y="1006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4235367" y="2134077"/>
            <a:ext cx="9817265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 DE LA AUDITORÍA</a:t>
            </a:r>
          </a:p>
        </p:txBody>
      </p:sp>
      <p:sp>
        <p:nvSpPr>
          <p:cNvPr id="4" name="Freeform 4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521968">
            <a:off x="-1621540" y="6059711"/>
            <a:ext cx="6693472" cy="6255354"/>
          </a:xfrm>
          <a:custGeom>
            <a:avLst/>
            <a:gdLst/>
            <a:ahLst/>
            <a:cxnLst/>
            <a:rect l="l" t="t" r="r" b="b"/>
            <a:pathLst>
              <a:path w="6693472" h="6255354">
                <a:moveTo>
                  <a:pt x="0" y="0"/>
                </a:moveTo>
                <a:lnTo>
                  <a:pt x="6693472" y="0"/>
                </a:lnTo>
                <a:lnTo>
                  <a:pt x="6693472" y="6255354"/>
                </a:lnTo>
                <a:lnTo>
                  <a:pt x="0" y="6255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2558540" y="5438630"/>
            <a:ext cx="13170920" cy="264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3"/>
              </a:lnSpc>
            </a:pPr>
            <a:r>
              <a:rPr lang="en-US" sz="3802" spc="8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</a:t>
            </a:r>
            <a:r>
              <a:rPr lang="en-US" sz="3802" b="1" spc="83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auditoría resultó exitosa </a:t>
            </a:r>
            <a:r>
              <a:rPr lang="en-US" sz="3802" spc="8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tanto que logró verificar el cumplimiento básico de los estándares de calidad definidos y ofrecer un conjunto de recomendaciones accionables para fortalecer el sistema en áreas puntuales</a:t>
            </a:r>
          </a:p>
        </p:txBody>
      </p:sp>
      <p:sp>
        <p:nvSpPr>
          <p:cNvPr id="9" name="Freeform 9"/>
          <p:cNvSpPr/>
          <p:nvPr/>
        </p:nvSpPr>
        <p:spPr>
          <a:xfrm rot="-8798399">
            <a:off x="5914124" y="-961154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43027"/>
            <a:ext cx="9977653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 POR ESCUCHAR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981061"/>
            <a:ext cx="9034884" cy="114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8"/>
              </a:lnSpc>
            </a:pPr>
            <a:r>
              <a:rPr lang="en-US" sz="6655" i="1" spc="146">
                <a:solidFill>
                  <a:srgbClr val="EDE8E4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¿Alguna pregunta?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9014669" y="330973"/>
            <a:ext cx="10113074" cy="9451127"/>
          </a:xfrm>
          <a:custGeom>
            <a:avLst/>
            <a:gdLst/>
            <a:ahLst/>
            <a:cxnLst/>
            <a:rect l="l" t="t" r="r" b="b"/>
            <a:pathLst>
              <a:path w="10113074" h="9451127">
                <a:moveTo>
                  <a:pt x="0" y="0"/>
                </a:moveTo>
                <a:lnTo>
                  <a:pt x="10113074" y="0"/>
                </a:lnTo>
                <a:lnTo>
                  <a:pt x="10113074" y="9451127"/>
                </a:lnTo>
                <a:lnTo>
                  <a:pt x="0" y="945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508769" y="7633761"/>
            <a:ext cx="19305539" cy="3249078"/>
          </a:xfrm>
          <a:custGeom>
            <a:avLst/>
            <a:gdLst/>
            <a:ahLst/>
            <a:cxnLst/>
            <a:rect l="l" t="t" r="r" b="b"/>
            <a:pathLst>
              <a:path w="19305539" h="3249078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493104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1079</Words>
  <Application>Microsoft Office PowerPoint</Application>
  <PresentationFormat>Personalizado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Glacial Indifference Bold</vt:lpstr>
      <vt:lpstr>Calibri</vt:lpstr>
      <vt:lpstr>Glacial Indifference</vt:lpstr>
      <vt:lpstr>Arial</vt:lpstr>
      <vt:lpstr>Glacial Indifference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</dc:title>
  <cp:lastModifiedBy>Cuenta Microsoft</cp:lastModifiedBy>
  <cp:revision>2</cp:revision>
  <dcterms:created xsi:type="dcterms:W3CDTF">2006-08-16T00:00:00Z</dcterms:created>
  <dcterms:modified xsi:type="dcterms:W3CDTF">2025-05-30T16:15:03Z</dcterms:modified>
  <dc:identifier>DAGo1gWkbz4</dc:identifier>
</cp:coreProperties>
</file>